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</ns0:sldIdLst>
  <ns0:sldSz cx="12192000" cy="6858000" type="screen4x3"/>
  <ns0:notesSz cx="6858000" cy="9144000"/>
  <ns0:embeddedFontLst>
    <ns0:embeddedFont>
      <ns0:font typeface="Inter"/>
      <ns0:bold ns1:id="rIdFont17"/>
      <ns0:regular ns1:id="rIdFont18"/>
    </ns0:embeddedFont>
    <ns0:embeddedFont>
      <ns0:font typeface="Plus Jakarta Sans"/>
      <ns0:bold ns1:id="rIdFont1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Font17" Type="http://schemas.openxmlformats.org/officeDocument/2006/relationships/font" Target="fonts/e03ae8b8-f684-41a7-ad6e-b3b9127c5fc8.fntdata" /><ns0:Relationship Id="rIdFont18" Type="http://schemas.openxmlformats.org/officeDocument/2006/relationships/font" Target="fonts/4ecaa982-f258-458d-a319-8ea5ff9065cb.fntdata" /><ns0:Relationship Id="rIdFont19" Type="http://schemas.openxmlformats.org/officeDocument/2006/relationships/font" Target="fonts/bcae5533-1e79-4d65-ac69-3b731ebb033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267325"/>
            <a:ext cx="10972800" cy="10572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33400"/>
            <a:ext cx="571500" cy="285750"/>
          </a:xfrm>
          <a:prstGeom prst="roundRect">
            <a:avLst>
              <a:gd name="adj" fmla="val 50000"/>
            </a:avLst>
          </a:prstGeom>
          <a:solidFill>
            <a:srgbClr val="132651"/>
          </a:solidFill>
          <a:ln w="9525">
            <a:solidFill>
              <a:srgbClr val="214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5543550"/>
            <a:ext cx="3543300" cy="781050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5267325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81500" y="5543550"/>
            <a:ext cx="7200900" cy="781050"/>
          </a:xfrm>
          <a:prstGeom prst="roundRect">
            <a:avLst>
              <a:gd name="adj" fmla="val 1463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543550"/>
            <a:ext cx="38100" cy="781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1500" y="5543550"/>
            <a:ext cx="38100" cy="78105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609600"/>
            <a:ext cx="171450" cy="133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1047750"/>
            <a:ext cx="11582400" cy="5656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55"/>
              </a:lnSpc>
            </a:pPr>
            <a:r>
              <a:rPr b="1" sz="4050" i="0" u="none">
                <a:solidFill>
                  <a:srgbClr val="FFFFFF"/>
                </a:solidFill>
                <a:latin typeface="Plus Jakarta Sans"/>
              </a:rPr>
              <a:t>AI WeatherWise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765845"/>
            <a:ext cx="73342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Delivering Intelligent Weather Forecasts &amp; Context-Aware AI Insights via Node.js, Express &amp; Google Gemini.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5734050"/>
            <a:ext cx="38100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60A5FA"/>
                </a:solidFill>
                <a:latin typeface="Inter"/>
              </a:rPr>
              <a:t>TEAM LEADER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5934075"/>
            <a:ext cx="381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Inter"/>
              </a:rPr>
              <a:t>MOHAMED EZZATH 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8200" y="5734050"/>
            <a:ext cx="75438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DD4BF"/>
                </a:solidFill>
                <a:latin typeface="Inter"/>
              </a:rPr>
              <a:t>TEAM 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5934075"/>
            <a:ext cx="7543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125" i="0" u="none">
                <a:solidFill>
                  <a:srgbClr val="E2E8F0"/>
                </a:solidFill>
                <a:latin typeface="Inter"/>
              </a:rPr>
              <a:t>DHANUSH M  •  HARISH KUMAR R  •  MARIA ANTONY A  •  VISHAL MADHAVAN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333500"/>
            <a:ext cx="4798962" cy="50673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5825" y="5743575"/>
            <a:ext cx="4246512" cy="3810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637162" y="1333500"/>
            <a:ext cx="2896344" cy="24574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5907" y="1333500"/>
            <a:ext cx="2896492" cy="24574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37162" y="3943350"/>
            <a:ext cx="2896344" cy="24574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5907" y="3943350"/>
            <a:ext cx="2896492" cy="24574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5825" y="5743575"/>
            <a:ext cx="28575" cy="381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7187" y="1533525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5932" y="1533525"/>
            <a:ext cx="1428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7187" y="4143375"/>
            <a:ext cx="238125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5932" y="4143375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1609725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787" y="1714500"/>
            <a:ext cx="219075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CASE STUDY &amp; PROBLEM FRAMING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The Weather Insight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2143125"/>
            <a:ext cx="4341762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4155"/>
                </a:solidFill>
                <a:latin typeface="Inter"/>
              </a:rPr>
              <a:t>Needs to track weather across multiple cities and prepare for trip conditions without manually parsing complex raw meter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" y="5857875"/>
            <a:ext cx="489142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293B"/>
                </a:solidFill>
                <a:latin typeface="Inter"/>
              </a:rPr>
              <a:t>Goal: Natural language activity suggestions &amp; multi-city tracking.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7187" y="1838325"/>
            <a:ext cx="327638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Raw Metric Overload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7187" y="2095500"/>
            <a:ext cx="2591544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Lack of actionable activity or clothing recommendations.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5932" y="1838325"/>
            <a:ext cx="32765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Fragmented Locations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5932" y="2095500"/>
            <a:ext cx="2591692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Inability to persist and sync favorite cities across sessions.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7187" y="4448175"/>
            <a:ext cx="327638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No Contextual Summaries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37187" y="4705350"/>
            <a:ext cx="2591544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Absence of natural language weather forecasts.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5932" y="4448175"/>
            <a:ext cx="327658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Unsecured Sync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85932" y="4705350"/>
            <a:ext cx="2591692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Missing JWT security and user credential encryption.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81125" y="1614487"/>
            <a:ext cx="207525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User Persona: Alex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1125" y="1833562"/>
            <a:ext cx="1976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Frequent Travel Enthusiast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70907"/>
            <a:ext cx="3530649" cy="1792485"/>
          </a:xfrm>
          <a:prstGeom prst="roundRect">
            <a:avLst>
              <a:gd name="adj" fmla="val 74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2970907"/>
            <a:ext cx="3530649" cy="1792485"/>
          </a:xfrm>
          <a:prstGeom prst="roundRect">
            <a:avLst>
              <a:gd name="adj" fmla="val 74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970907"/>
            <a:ext cx="3530649" cy="1792485"/>
          </a:xfrm>
          <a:prstGeom prst="roundRect">
            <a:avLst>
              <a:gd name="adj" fmla="val 74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47132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74" y="3247132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3247132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3361432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3174" y="3361432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3849" y="3361432"/>
            <a:ext cx="17145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SYSTEM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AI WeatherWise Core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818632"/>
            <a:ext cx="40088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Node.js &amp; Express REST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113907"/>
            <a:ext cx="314964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Modular API gateway managing routing, authentication, and request sanitization.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874" y="3818632"/>
            <a:ext cx="40088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Google Gemini AI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874" y="4113907"/>
            <a:ext cx="314964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Context-aware prompt orchestration providing natural language activity advice.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024" y="3818632"/>
            <a:ext cx="39019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MongoDB &amp; Mongoose ODM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024" y="4113907"/>
            <a:ext cx="314964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Document persistence for user credentials, saved cities, and analytical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62200"/>
            <a:ext cx="10972800" cy="657225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33725"/>
            <a:ext cx="10972800" cy="657225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05250"/>
            <a:ext cx="10972800" cy="657225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676775"/>
            <a:ext cx="10972800" cy="657225"/>
          </a:xfrm>
          <a:prstGeom prst="roundRect">
            <a:avLst>
              <a:gd name="adj" fmla="val 1449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2562225"/>
            <a:ext cx="1371600" cy="257175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7725" y="3333750"/>
            <a:ext cx="1400175" cy="257175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7725" y="4105275"/>
            <a:ext cx="1333500" cy="257175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7725" y="4876800"/>
            <a:ext cx="1390650" cy="257175"/>
          </a:xfrm>
          <a:prstGeom prst="roundRect">
            <a:avLst>
              <a:gd name="adj" fmla="val 22222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52950" y="2705100"/>
            <a:ext cx="762148" cy="17145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91298" y="2705100"/>
            <a:ext cx="1036587" cy="17145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04086" y="2705100"/>
            <a:ext cx="967978" cy="17145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48264" y="2705100"/>
            <a:ext cx="624929" cy="17145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372100" y="4248150"/>
            <a:ext cx="967978" cy="17145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ARCHITECTURAL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Multi-Tier Backend 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75" y="2619375"/>
            <a:ext cx="14859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FFFFFF"/>
                </a:solidFill>
                <a:latin typeface="Inter"/>
              </a:rPr>
              <a:t>API ROUTING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003" y="3390900"/>
            <a:ext cx="1521618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FFFFFF"/>
                </a:solidFill>
                <a:latin typeface="Inter"/>
              </a:rPr>
              <a:t>CONTROLLER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337" y="4162425"/>
            <a:ext cx="14382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FFFFFF"/>
                </a:solidFill>
                <a:latin typeface="Inter"/>
              </a:rPr>
              <a:t>SERVICE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193" y="4933950"/>
            <a:ext cx="1509712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FFFFFF"/>
                </a:solidFill>
                <a:latin typeface="Inter"/>
              </a:rPr>
              <a:t>MODEL &amp;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09825" y="2524125"/>
            <a:ext cx="762692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Express Gateway &amp; Guard Checkers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09825" y="2705100"/>
            <a:ext cx="726374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Public &amp; JWT Private Route Shields (, , , 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38400" y="3295650"/>
            <a:ext cx="6613326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Orchestration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38400" y="3476625"/>
            <a:ext cx="62984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AuthController (bcrypt), LocationController (CRUD), WeatherController &amp; AIController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1725" y="4067175"/>
            <a:ext cx="623359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External Integration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1725" y="4248150"/>
            <a:ext cx="593675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Weather Service (OpenWeatherMap) &amp; AI Service ( SDK engine)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8875" y="4838700"/>
            <a:ext cx="467558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Plus Jakarta Sans"/>
              </a:rPr>
              <a:t>Mongoose Schema Data Mapping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8875" y="5019675"/>
            <a:ext cx="4452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User Model, Location Model &amp; MongoDB NoSQL Collections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1050" y="2724150"/>
            <a:ext cx="781198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monospace"/>
              </a:rPr>
              <a:t>authRoutes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29398" y="2724150"/>
            <a:ext cx="105563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monospace"/>
              </a:rPr>
              <a:t>locationRoutes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42186" y="2724150"/>
            <a:ext cx="987028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monospace"/>
              </a:rPr>
              <a:t>weatherRoutes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6364" y="2724150"/>
            <a:ext cx="643979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monospace"/>
              </a:rPr>
              <a:t>aiRoutes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10200" y="4267200"/>
            <a:ext cx="987028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monospace"/>
              </a:rPr>
              <a:t>@google/genai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95400"/>
            <a:ext cx="3612207" cy="5105400"/>
          </a:xfrm>
          <a:prstGeom prst="roundRect">
            <a:avLst>
              <a:gd name="adj" fmla="val 31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50407" y="1295400"/>
            <a:ext cx="3612207" cy="5105400"/>
          </a:xfrm>
          <a:prstGeom prst="roundRect">
            <a:avLst>
              <a:gd name="adj" fmla="val 31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91214" y="1295400"/>
            <a:ext cx="3291036" cy="5105400"/>
          </a:xfrm>
          <a:prstGeom prst="roundRect">
            <a:avLst>
              <a:gd name="adj" fmla="val 3473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91239" y="5667375"/>
            <a:ext cx="2890986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1519237"/>
            <a:ext cx="1905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432" y="1519237"/>
            <a:ext cx="95250" cy="15240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09625" y="1809750"/>
          <a:ext cx="3212157" cy="13716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100435"/>
                <a:gridCol w="2111722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Inter"/>
                        </a:rPr>
                        <a:t>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64748B"/>
                          </a:solidFill>
                          <a:latin typeface="Inter"/>
                        </a:rPr>
                        <a:t>ObjectId (PK)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Inter"/>
                        </a:rPr>
                        <a:t>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64748B"/>
                          </a:solidFill>
                          <a:latin typeface="Inter"/>
                        </a:rPr>
                        <a:t>String (Required)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Inter"/>
                        </a:rPr>
                        <a:t>email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64748B"/>
                          </a:solidFill>
                          <a:latin typeface="Inter"/>
                        </a:rPr>
                        <a:t>String (Unique, Trim)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Inter"/>
                        </a:rPr>
                        <a:t>password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64748B"/>
                          </a:solidFill>
                          <a:latin typeface="Inter"/>
                        </a:rPr>
                        <a:t>String (Bcrypt Hashed)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Inter"/>
                        </a:rPr>
                        <a:t>timestamps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64748B"/>
                          </a:solidFill>
                          <a:latin typeface="Inter"/>
                        </a:rPr>
                        <a:t>createdAt, updatedAt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650432" y="1809750"/>
          <a:ext cx="3212156" cy="13716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037629"/>
                <a:gridCol w="2174527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Inter"/>
                        </a:rPr>
                        <a:t>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64748B"/>
                          </a:solidFill>
                          <a:latin typeface="Inter"/>
                        </a:rPr>
                        <a:t>ObjectId (PK)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Inter"/>
                        </a:rPr>
                        <a:t>user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2563EB"/>
                          </a:solidFill>
                          <a:latin typeface="Inter"/>
                        </a:rPr>
                        <a:t>ObjectId (FK -&gt; User)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Inter"/>
                        </a:rPr>
                        <a:t>city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64748B"/>
                          </a:solidFill>
                          <a:latin typeface="Inter"/>
                        </a:rPr>
                        <a:t>String (Required)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Inter"/>
                        </a:rPr>
                        <a:t>country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64748B"/>
                          </a:solidFill>
                          <a:latin typeface="Inter"/>
                        </a:rPr>
                        <a:t>String (Required)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F172A"/>
                          </a:solidFill>
                          <a:latin typeface="Inter"/>
                        </a:rPr>
                        <a:t>createdAt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64748B"/>
                          </a:solidFill>
                          <a:latin typeface="Inter"/>
                        </a:rPr>
                        <a:t>Date (Default: Now)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DATA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MongoDB &amp; Mongoose Schema Mapping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1495425"/>
            <a:ext cx="114014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User 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1882" y="1495425"/>
            <a:ext cx="147018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Location 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91239" y="1495425"/>
            <a:ext cx="370076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Plus Jakarta Sans"/>
              </a:rPr>
              <a:t>Relational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91239" y="1752600"/>
            <a:ext cx="2986236" cy="3464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b="0" sz="975" i="0" u="none">
                <a:solidFill>
                  <a:srgbClr val="1E3A8A"/>
                </a:solidFill>
                <a:latin typeface="Inter"/>
              </a:rPr>
              <a:t>One-to-Many link between User and Saved Locations.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5064" y="5791200"/>
            <a:ext cx="273858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E40AF"/>
                </a:solidFill>
                <a:latin typeface="Inter"/>
              </a:rPr>
              <a:t>Strict Schema Validation &amp; NoSQL Injection Protection via Mongoose ODM.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43262"/>
            <a:ext cx="1943100" cy="1247775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67025" y="3243262"/>
            <a:ext cx="1943100" cy="1247775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24450" y="3243262"/>
            <a:ext cx="1943100" cy="1247775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81875" y="3167062"/>
            <a:ext cx="1943100" cy="1400175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9300" y="3243262"/>
            <a:ext cx="1943100" cy="1247775"/>
          </a:xfrm>
          <a:prstGeom prst="roundRect">
            <a:avLst>
              <a:gd name="adj" fmla="val 916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43037" y="3443287"/>
            <a:ext cx="276225" cy="219075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90937" y="3443287"/>
            <a:ext cx="295275" cy="219075"/>
          </a:xfrm>
          <a:prstGeom prst="roundRect">
            <a:avLst>
              <a:gd name="adj" fmla="val 17391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943600" y="3443287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01025" y="3367087"/>
            <a:ext cx="304800" cy="219075"/>
          </a:xfrm>
          <a:prstGeom prst="roundRect">
            <a:avLst>
              <a:gd name="adj" fmla="val 17391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463212" y="3443287"/>
            <a:ext cx="295275" cy="219075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3800475"/>
            <a:ext cx="85725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425" y="3800475"/>
            <a:ext cx="85725" cy="1333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850" y="3800475"/>
            <a:ext cx="85725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9275" y="3800475"/>
            <a:ext cx="85725" cy="133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API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End-to-End User Request Sequence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6362" y="3481387"/>
            <a:ext cx="4095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2563EB"/>
                </a:solidFill>
                <a:latin typeface="Inter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517" y="3748087"/>
            <a:ext cx="212526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User 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9118" y="3986212"/>
            <a:ext cx="202406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Registers or logs in &amp; receives JWT token.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24262" y="3481387"/>
            <a:ext cx="428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D9488"/>
                </a:solidFill>
                <a:latin typeface="Inter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5942" y="3748087"/>
            <a:ext cx="212526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Save 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26543" y="3986212"/>
            <a:ext cx="202406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Persists favorite locations via API endpoint.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6925" y="3481387"/>
            <a:ext cx="4381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Inter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3367" y="3748087"/>
            <a:ext cx="212526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Fetch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3968" y="3986212"/>
            <a:ext cx="202406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Queries OpenWeatherMap for live metrics.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4350" y="3405187"/>
            <a:ext cx="4381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6366F1"/>
                </a:solidFill>
                <a:latin typeface="Inter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90792" y="3671887"/>
            <a:ext cx="212526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AI Insights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1393" y="3910012"/>
            <a:ext cx="202406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Requests Gemini recommendations for weather data.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96537" y="3481387"/>
            <a:ext cx="428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16A34A"/>
                </a:solidFill>
                <a:latin typeface="Inter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48217" y="3748087"/>
            <a:ext cx="212526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Plus Jakarta Sans"/>
              </a:rPr>
              <a:t>Validated 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98818" y="3986212"/>
            <a:ext cx="202406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Inter"/>
              </a:rPr>
              <a:t>System validates JWT &amp; returns response payload.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95400"/>
            <a:ext cx="5372100" cy="5105400"/>
          </a:xfrm>
          <a:prstGeom prst="roundRect">
            <a:avLst>
              <a:gd name="adj" fmla="val 26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1295400"/>
            <a:ext cx="5372100" cy="5105400"/>
          </a:xfrm>
          <a:prstGeom prst="roundRect">
            <a:avLst>
              <a:gd name="adj" fmla="val 26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43050" y="2811512"/>
            <a:ext cx="1006078" cy="171450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547812"/>
            <a:ext cx="238125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1547812"/>
            <a:ext cx="190500" cy="19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TECHNICAL SPECIFICATIONS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Software Stack &amp; Hardware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1533525"/>
            <a:ext cx="228778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Software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1905000"/>
            <a:ext cx="6119812" cy="2799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Runtime: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Node.js (v16+) &amp; npm (v8+)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184945"/>
            <a:ext cx="6119812" cy="2799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Framework: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Express.js REST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464891"/>
            <a:ext cx="6119812" cy="2799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Database: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MongoDB &amp; Mongoose ODM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744837"/>
            <a:ext cx="6119812" cy="2799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AI Engine: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SDK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024782"/>
            <a:ext cx="6119812" cy="2799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Security: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JWT &amp; bcryptjs password hashing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304728"/>
            <a:ext cx="6119812" cy="2799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API Testing: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Postman Workspace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4175" y="1533525"/>
            <a:ext cx="27003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Hardware Specifications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1905000"/>
            <a:ext cx="5743575" cy="2799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Operating System: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Windows 10/11, macOS, Linux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2184945"/>
            <a:ext cx="5743575" cy="2799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Processor: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Intel Core i5 (8th Gen+) / AMD Ryzen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2464891"/>
            <a:ext cx="5743575" cy="2799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System Memory: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8 GB RAM minimum (16 GB recommended)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2744837"/>
            <a:ext cx="5743575" cy="2799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Storage: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1 GB available disk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3024782"/>
            <a:ext cx="5743575" cy="2799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204"/>
              </a:lnSpc>
            </a:pPr>
            <a:r>
              <a:rPr b="1" sz="1050" i="0" u="none">
                <a:solidFill>
                  <a:srgbClr val="334155"/>
                </a:solidFill>
                <a:latin typeface="Inter"/>
              </a:rPr>
              <a:t>Network: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HTTP/HTTPS API outbound connectivity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830562"/>
            <a:ext cx="1177528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900" i="0" u="none">
                <a:solidFill>
                  <a:srgbClr val="334155"/>
                </a:solidFill>
                <a:latin typeface="monospace"/>
              </a:rPr>
              <a:t>@google/genai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9625" y="3300412"/>
            <a:ext cx="466725" cy="219075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09625" y="3738562"/>
            <a:ext cx="466725" cy="219075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9625" y="4176712"/>
            <a:ext cx="381000" cy="219075"/>
          </a:xfrm>
          <a:prstGeom prst="roundRect">
            <a:avLst>
              <a:gd name="adj" fmla="val 17391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9625" y="4614862"/>
            <a:ext cx="466725" cy="219075"/>
          </a:xfrm>
          <a:prstGeom prst="roundRect">
            <a:avLst>
              <a:gd name="adj" fmla="val 17391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2757487"/>
            <a:ext cx="10972800" cy="21812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2757487"/>
          <a:ext cx="10963274" cy="21812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42641"/>
                <a:gridCol w="3913882"/>
                <a:gridCol w="3269902"/>
                <a:gridCol w="1936849"/>
              </a:tblGrid>
              <a:tr h="43624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HTTP METHOD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ENDPOINT PATH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CONTROLLER HANDLER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475569"/>
                          </a:solidFill>
                          <a:latin typeface="Inter"/>
                        </a:rPr>
                        <a:t>ACCESS LEVEL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monospace"/>
                        </a:rPr>
                        <a:t>/api/auth/register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Inter"/>
                        </a:rPr>
                        <a:t>Auth Controller (Bcrypt hash)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64748B"/>
                          </a:solidFill>
                          <a:latin typeface="Inter"/>
                        </a:rPr>
                        <a:t>Public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monospace"/>
                        </a:rPr>
                        <a:t>/api/auth/login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Inter"/>
                        </a:rPr>
                        <a:t>Auth Controller (JWT issuance)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64748B"/>
                          </a:solidFill>
                          <a:latin typeface="Inter"/>
                        </a:rPr>
                        <a:t>Public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monospace"/>
                        </a:rPr>
                        <a:t>/api/weather/:city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Inter"/>
                        </a:rPr>
                        <a:t>Weather Controller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64748B"/>
                          </a:solidFill>
                          <a:latin typeface="Inter"/>
                        </a:rPr>
                        <a:t>Public / Cached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6245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monospace"/>
                        </a:rPr>
                        <a:t>/api/ai/weather-recommendation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1E293B"/>
                          </a:solidFill>
                          <a:latin typeface="Inter"/>
                        </a:rPr>
                        <a:t>AI Controller (Gemini API)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2563EB"/>
                          </a:solidFill>
                          <a:latin typeface="Inter"/>
                        </a:rPr>
                        <a:t>JWT Protected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INTERFACE SPECIFICATIONS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Core REST API Endpoint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338512"/>
            <a:ext cx="4095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Inter"/>
              </a:rP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776662"/>
            <a:ext cx="4095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Inter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214812"/>
            <a:ext cx="3238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D4ED8"/>
                </a:solidFill>
                <a:latin typeface="Inter"/>
              </a:rPr>
              <a:t>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652962"/>
            <a:ext cx="4095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5803D"/>
                </a:solidFill>
                <a:latin typeface="Inter"/>
              </a:rPr>
              <a:t>POST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70907"/>
            <a:ext cx="3530649" cy="1792485"/>
          </a:xfrm>
          <a:prstGeom prst="roundRect">
            <a:avLst>
              <a:gd name="adj" fmla="val 74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2970907"/>
            <a:ext cx="3530649" cy="1792485"/>
          </a:xfrm>
          <a:prstGeom prst="roundRect">
            <a:avLst>
              <a:gd name="adj" fmla="val 74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970907"/>
            <a:ext cx="3530649" cy="1792485"/>
          </a:xfrm>
          <a:prstGeom prst="roundRect">
            <a:avLst>
              <a:gd name="adj" fmla="val 743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47132"/>
            <a:ext cx="419100" cy="419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74" y="3247132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3247132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212" y="3361432"/>
            <a:ext cx="238125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3174" y="3361432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0036" y="3361432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Inter"/>
              </a:rPr>
              <a:t>OPERATIONAL 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Security Safeguards &amp; System Resilience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818632"/>
            <a:ext cx="40088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Role-Based Guards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113907"/>
            <a:ext cx="314964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Strict token processing prevents unauthorized access to protected paths.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8874" y="3818632"/>
            <a:ext cx="4008899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Resilient Fallback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8874" y="4113907"/>
            <a:ext cx="314964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Maintains core API functionality even if external keys are unavailable.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024" y="3818632"/>
            <a:ext cx="39019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Payload Sanitization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024" y="4113907"/>
            <a:ext cx="314964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Centralized error handling safeguards against XSS &amp; NoSQL injections.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933926"/>
            <a:ext cx="10972800" cy="390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533400"/>
            <a:ext cx="2143125" cy="285750"/>
          </a:xfrm>
          <a:prstGeom prst="roundRect">
            <a:avLst>
              <a:gd name="adj" fmla="val 50000"/>
            </a:avLst>
          </a:prstGeom>
          <a:solidFill>
            <a:srgbClr val="132651"/>
          </a:solidFill>
          <a:ln w="9525">
            <a:solidFill>
              <a:srgbClr val="2142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516064"/>
            <a:ext cx="3530649" cy="1076325"/>
          </a:xfrm>
          <a:prstGeom prst="roundRect">
            <a:avLst>
              <a:gd name="adj" fmla="val 1061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30749" y="3516064"/>
            <a:ext cx="3530649" cy="1076325"/>
          </a:xfrm>
          <a:prstGeom prst="roundRect">
            <a:avLst>
              <a:gd name="adj" fmla="val 1061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51899" y="3516064"/>
            <a:ext cx="3530649" cy="1076325"/>
          </a:xfrm>
          <a:prstGeom prst="roundRect">
            <a:avLst>
              <a:gd name="adj" fmla="val 1061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933926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609600"/>
            <a:ext cx="11430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3716089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774" y="3716089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924" y="3716089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1047750"/>
            <a:ext cx="11582400" cy="4600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22"/>
              </a:lnSpc>
            </a:pPr>
            <a:r>
              <a:rPr b="1" sz="3150" i="0" u="none">
                <a:solidFill>
                  <a:srgbClr val="FFFFFF"/>
                </a:solidFill>
                <a:latin typeface="Plus Jakarta Sans"/>
              </a:rPr>
              <a:t>AI WeatherWise Outcome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1660177"/>
            <a:ext cx="7715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Successfully built a robust REST backend turning raw atmospheric telemetry into context-aware, actionable recommendations using Google Gemini AI.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148238"/>
            <a:ext cx="672703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Naan Mudhalvan Final Year Project  |  Department of Computer Science &amp;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67900" y="6133951"/>
            <a:ext cx="2143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Thank You &amp;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2025" y="600075"/>
            <a:ext cx="20359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93C5FD"/>
                </a:solidFill>
                <a:latin typeface="Inter"/>
              </a:rPr>
              <a:t>PROJECT DELIVERABLES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4001839"/>
            <a:ext cx="410891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Natural Advice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4239964"/>
            <a:ext cx="391324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Replaced complex charts with clear text summaries.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0774" y="4001839"/>
            <a:ext cx="410891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Data Integrity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0774" y="4239964"/>
            <a:ext cx="391324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Strict Mongoose validation &amp; secure user syncing.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1924" y="4001839"/>
            <a:ext cx="39400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Plus Jakarta Sans"/>
              </a:rPr>
              <a:t>Production 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1924" y="4239964"/>
            <a:ext cx="3913249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Inter"/>
              </a:rPr>
              <a:t>JWT authentication &amp; sanitization safeguards.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